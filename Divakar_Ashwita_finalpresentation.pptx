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5" r:id="rId9"/>
    <p:sldId id="260" r:id="rId10"/>
    <p:sldId id="261" r:id="rId11"/>
    <p:sldId id="266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D4B8A-13E5-48DB-A925-48BA090FEE88}" v="2" dt="2025-12-05T13:05:03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3C03-8637-053F-F21A-06B4130EE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005E1-5AFB-73DC-AF2E-F40054C33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933A1-C4A6-35A0-6982-4424F96F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F9BE7-4314-E192-D524-FA6DF745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75B17-2F8B-24A1-CC4F-544C3385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20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053F-F2C1-50AB-5DA6-2E9D009A5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C8622-BE59-8B60-EFC4-A22C92707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66A51-5A7A-6DE8-9E0A-2084087BD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F1FB3-F098-9B60-39A0-0F377C04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54E17-E39D-78F9-C38C-7DB79106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87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3257-2696-5FD4-95EC-ECC65635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2E87D-8862-F40E-38D3-C8198597C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2DAA2-AF02-E35A-46AC-1796856B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1DD1F-CA5A-83CC-5C59-CA8D066E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D0173-1C18-5955-B64F-A35F3D69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57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4FB6-6A85-BB0D-FA05-CAC65A87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7F503-2A7D-16BF-B11A-766EC861A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FA906-BC15-B73A-E73F-AB793410F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7CDFD-51C1-ADBD-F84C-88D5C2D25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8B41D-4553-CF94-1709-7E39E35E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BEC90-62CC-23EE-9B82-8112B8DA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07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9330-3A17-FF64-175A-E8682E9B6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CAB77-D05A-DFDA-5775-8F655C022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FEB42-3063-FEDD-BDB7-00237D5A1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DB3523-A6EE-49DA-2D8B-33243C55C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E573E-6656-041F-D10D-3AC573794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CB083-241A-03CB-D5AB-CF3E293F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3839B-B4E4-FDC1-A9EA-4125BD31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2E0B6-FA2E-CF08-9961-20597425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9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3E0C-92C3-387C-7EEB-7B5D04032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FC0606-C019-748B-D6CD-1C4106CF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33218-14E0-C189-A3F6-F2147A2A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F996D-2C63-6340-A3F9-C1FC8BFB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01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CC334-B02B-23F8-771E-09A75852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5A6D4F-C4C7-37EA-41A9-99373512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15DBB-1C5E-547A-5F78-7B2F79E3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300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F502-A0D6-8FFD-0C8E-50C6F9628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3C598-0672-379A-AC75-0EBB0F03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0CDA9-D07B-1292-E8A4-9B72F340B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3507E-873A-841E-8963-55323C3A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4883A-2E9E-43A9-444A-EA055F1F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D01B-854B-81C7-7510-DF93ACD6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75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070B-49EA-8A29-443D-B882AAE1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6E9697-73F4-83B8-2635-2D57F28E7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889FC-A66A-2EC5-2F9E-71BA09F6F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CBA9A-94BE-D1CD-63E3-8F3B866D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A5A29-8A39-0E38-A85A-C4928C27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96184-9B27-E32B-71DA-58388B18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950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D787-0DB0-3D25-5EBD-B331CFFD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D4FA4-8ED9-C764-7B2F-4633C7CA5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C21C9-9AAD-2CA4-EAE7-660400B5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BE35E-D3B3-AC27-B7EB-A6C308DA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69E5B-3275-A611-735B-699FE4B3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79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4BDF6-10E4-1CFF-2494-BDC203A37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2723C-EF03-4D40-7021-B6078565C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43A8-807F-DBD0-AFD1-A4542541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9AC32-526E-F652-F33B-07FFF452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3348D-0B30-E2EF-F4A0-4A7C0023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67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49C42-9F5B-936E-33A5-64693CFE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2AA10-4559-A0D4-3F0B-11ADC9561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8BCDC-778C-D52E-D524-35D9D45193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BC53D-6B06-4592-B300-57C5721DAADA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F130-2635-72CE-B828-359F85EE1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2FAB4-DAA1-AEDF-7140-3D51267EA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85C12-A736-4C55-AAB2-C788828831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43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481E9-BA0C-421E-9844-0BB7DC0AC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0918"/>
            <a:ext cx="9144000" cy="2387600"/>
          </a:xfrm>
        </p:spPr>
        <p:txBody>
          <a:bodyPr/>
          <a:lstStyle/>
          <a:p>
            <a:r>
              <a:rPr lang="en-IN" dirty="0"/>
              <a:t>BTP PRESENTATION</a:t>
            </a:r>
            <a:br>
              <a:rPr lang="en-IN" dirty="0"/>
            </a:br>
            <a:r>
              <a:rPr lang="en-IN" sz="3600" dirty="0"/>
              <a:t>Multimodal Biometric Template Protection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88DDA-819E-EE14-6CA2-E77DAD8EAB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By: Divakar Kushwaha [2022CS11615] , </a:t>
            </a:r>
            <a:r>
              <a:rPr lang="en-IN" dirty="0" err="1"/>
              <a:t>Dharavath</a:t>
            </a:r>
            <a:r>
              <a:rPr lang="en-IN" dirty="0"/>
              <a:t> Ashvitha [2022CS11132]</a:t>
            </a:r>
          </a:p>
          <a:p>
            <a:r>
              <a:rPr lang="en-IN" dirty="0"/>
              <a:t>Supervised By: Prof. Ashok Kumar Bhateja, </a:t>
            </a:r>
          </a:p>
          <a:p>
            <a:r>
              <a:rPr lang="en-IN" dirty="0"/>
              <a:t>Department of Computer Science and Engineering, IIT Delhi</a:t>
            </a:r>
          </a:p>
          <a:p>
            <a:r>
              <a:rPr lang="en-IN" dirty="0"/>
              <a:t>Indian Institute of Technology (IIT) Delhi</a:t>
            </a:r>
          </a:p>
          <a:p>
            <a:r>
              <a:rPr lang="en-IN" dirty="0"/>
              <a:t>New Delhi, India</a:t>
            </a:r>
          </a:p>
        </p:txBody>
      </p:sp>
    </p:spTree>
    <p:extLst>
      <p:ext uri="{BB962C8B-B14F-4D97-AF65-F5344CB8AC3E}">
        <p14:creationId xmlns:p14="http://schemas.microsoft.com/office/powerpoint/2010/main" val="78537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D2399-373A-7E8B-CC1D-F69E8DC3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B501A-3A42-516E-9A08-2CADE1179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US" dirty="0">
                <a:solidFill>
                  <a:srgbClr val="000000"/>
                </a:solidFill>
              </a:rPr>
              <a:t>Problem Statement / Motivation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US" dirty="0">
                <a:solidFill>
                  <a:srgbClr val="000000"/>
                </a:solidFill>
              </a:rPr>
              <a:t>Literature Survey/Review 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US" dirty="0">
                <a:solidFill>
                  <a:srgbClr val="000000"/>
                </a:solidFill>
              </a:rPr>
              <a:t>Proposed Methodology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US" dirty="0">
                <a:solidFill>
                  <a:srgbClr val="000000"/>
                </a:solidFill>
              </a:rPr>
              <a:t>Experimental Set-up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US" dirty="0">
                <a:solidFill>
                  <a:srgbClr val="000000"/>
                </a:solidFill>
              </a:rPr>
              <a:t>Results and Discussion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US" dirty="0">
                <a:solidFill>
                  <a:srgbClr val="000000"/>
                </a:solidFill>
              </a:rPr>
              <a:t>Conclusion &amp; Future Scope</a:t>
            </a:r>
          </a:p>
          <a:p>
            <a:pPr marL="457200" lvl="0" indent="-342900">
              <a:spcBef>
                <a:spcPts val="0"/>
              </a:spcBef>
              <a:buClr>
                <a:srgbClr val="000000"/>
              </a:buClr>
              <a:buSzPts val="1800"/>
              <a:buChar char="●"/>
            </a:pPr>
            <a:r>
              <a:rPr lang="en-US" dirty="0">
                <a:solidFill>
                  <a:srgbClr val="000000"/>
                </a:solidFill>
              </a:rPr>
              <a:t>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02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530E-E505-2DD4-87F6-AD3DA022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3600" b="1" dirty="0"/>
              <a:t>Problem Statement / Motivation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A4E42-9964-F6F0-8A07-E4E21922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Face and iris are widely used for authentication, but traditional systems store fixed biometric templates.</a:t>
            </a:r>
          </a:p>
          <a:p>
            <a:r>
              <a:rPr lang="en-US" dirty="0"/>
              <a:t>If an attacker steals these templates, they can reuse them and the user cannot change their face or iris like a password.</a:t>
            </a:r>
          </a:p>
          <a:p>
            <a:r>
              <a:rPr lang="en-US" dirty="0"/>
              <a:t>One leak can cause permanent identity theft and cross‑system tracking.</a:t>
            </a:r>
          </a:p>
          <a:p>
            <a:r>
              <a:rPr lang="en-US" dirty="0"/>
              <a:t>Why this project?</a:t>
            </a:r>
          </a:p>
          <a:p>
            <a:r>
              <a:rPr lang="en-US" dirty="0"/>
              <a:t>We need a way to use biometrics without storing them in a permanent, reusable form.</a:t>
            </a:r>
          </a:p>
          <a:p>
            <a:r>
              <a:rPr lang="en-US" dirty="0"/>
              <a:t>Our project solves this by using cancelable templates for face and iris, so templates are:</a:t>
            </a:r>
          </a:p>
          <a:p>
            <a:pPr lvl="1"/>
            <a:r>
              <a:rPr lang="en-US" dirty="0"/>
              <a:t>Non‑invertible (original cannot be recovered),</a:t>
            </a:r>
          </a:p>
          <a:p>
            <a:pPr lvl="1"/>
            <a:r>
              <a:rPr lang="en-US" dirty="0"/>
              <a:t>Revocable (can be re‑issued with a new key),</a:t>
            </a:r>
          </a:p>
          <a:p>
            <a:pPr lvl="1"/>
            <a:r>
              <a:rPr lang="en-US" dirty="0" err="1"/>
              <a:t>Unlinkable</a:t>
            </a:r>
            <a:r>
              <a:rPr lang="en-US" dirty="0"/>
              <a:t> across different applications.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29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DEBF-6080-72AF-9635-54FE51EA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Proposed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5405D-F27F-2463-9CAE-07F88F913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Extract deep embeddings for face and iris using pretrained CNN/Transformer models.</a:t>
            </a:r>
          </a:p>
          <a:p>
            <a:r>
              <a:rPr lang="en-IN" dirty="0"/>
              <a:t>Apply six </a:t>
            </a:r>
            <a:r>
              <a:rPr lang="en-IN" dirty="0" err="1"/>
              <a:t>cancelable</a:t>
            </a:r>
            <a:r>
              <a:rPr lang="en-IN" dirty="0"/>
              <a:t> protection schemes (MLP‑Hash, </a:t>
            </a:r>
            <a:r>
              <a:rPr lang="en-IN" dirty="0" err="1"/>
              <a:t>BioHash</a:t>
            </a:r>
            <a:r>
              <a:rPr lang="en-IN" dirty="0"/>
              <a:t>, IoM‑GRP, IoM‑URP, RP‑PCA, Bloom Filter) on these embeddings.</a:t>
            </a:r>
          </a:p>
          <a:p>
            <a:r>
              <a:rPr lang="en-IN" dirty="0"/>
              <a:t>Perform </a:t>
            </a:r>
            <a:r>
              <a:rPr lang="en-IN" dirty="0" err="1"/>
              <a:t>enrollment</a:t>
            </a:r>
            <a:r>
              <a:rPr lang="en-IN" dirty="0"/>
              <a:t>: generate and store only protected templates (no raw biometrics).</a:t>
            </a:r>
          </a:p>
          <a:p>
            <a:r>
              <a:rPr lang="en-IN" dirty="0"/>
              <a:t>Perform verification: protect probe features in the same way and compare with stored templates.</a:t>
            </a:r>
          </a:p>
          <a:p>
            <a:r>
              <a:rPr lang="en-IN" dirty="0"/>
              <a:t>Evaluate and compare methods on LFW, </a:t>
            </a:r>
            <a:r>
              <a:rPr lang="en-IN" dirty="0" err="1"/>
              <a:t>AgeDB</a:t>
            </a:r>
            <a:r>
              <a:rPr lang="en-IN" dirty="0"/>
              <a:t>, IITD, CASIA, </a:t>
            </a:r>
            <a:r>
              <a:rPr lang="en-IN" dirty="0" err="1"/>
              <a:t>UtIris</a:t>
            </a:r>
            <a:r>
              <a:rPr lang="en-IN" dirty="0"/>
              <a:t> datasets.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70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A02B-E5F4-40C4-7C28-334FD18C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Method’s Complete Pipeline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27EA4A-977C-6E2D-3750-9A2B8EB76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64" y="1386349"/>
            <a:ext cx="10334036" cy="4859440"/>
          </a:xfrm>
        </p:spPr>
      </p:pic>
    </p:spTree>
    <p:extLst>
      <p:ext uri="{BB962C8B-B14F-4D97-AF65-F5344CB8AC3E}">
        <p14:creationId xmlns:p14="http://schemas.microsoft.com/office/powerpoint/2010/main" val="25161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2D43-387D-4D1B-F19D-203AE16F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0"/>
            <a:ext cx="10515600" cy="54768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Experimental Set-up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4D9F6-DF52-0B1E-2C84-CEA842253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Face datasets used:</a:t>
            </a:r>
          </a:p>
          <a:p>
            <a:pPr lvl="1"/>
            <a:r>
              <a:rPr lang="en-US" dirty="0"/>
              <a:t>LFW (Labeled Faces in the Wild)</a:t>
            </a:r>
          </a:p>
          <a:p>
            <a:pPr lvl="1"/>
            <a:r>
              <a:rPr lang="en-US" dirty="0" err="1"/>
              <a:t>AgeDB</a:t>
            </a:r>
            <a:r>
              <a:rPr lang="en-US" dirty="0"/>
              <a:t> (age‑annotated face images)</a:t>
            </a:r>
          </a:p>
          <a:p>
            <a:r>
              <a:rPr lang="en-US" dirty="0"/>
              <a:t>Iris datasets used:</a:t>
            </a:r>
          </a:p>
          <a:p>
            <a:pPr lvl="1"/>
            <a:r>
              <a:rPr lang="en-US" dirty="0"/>
              <a:t>IITD Iris</a:t>
            </a:r>
          </a:p>
          <a:p>
            <a:pPr lvl="1"/>
            <a:r>
              <a:rPr lang="en-US" dirty="0"/>
              <a:t>CASIA‑IrisV3</a:t>
            </a:r>
          </a:p>
          <a:p>
            <a:pPr lvl="1"/>
            <a:r>
              <a:rPr lang="en-US" dirty="0" err="1"/>
              <a:t>UtIris</a:t>
            </a:r>
            <a:endParaRPr lang="en-US" dirty="0"/>
          </a:p>
          <a:p>
            <a:r>
              <a:rPr lang="en-US" dirty="0"/>
              <a:t>For each dataset, we take images of each user, generate embeddings, and then apply our six cancelable schemes for template protection.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527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4E98-CC6E-87B8-8C0F-D1B1B14A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 and Discussion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9477E-9815-7088-FD0E-4448FE1A24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dirty="0"/>
                  <a:t>We evaluate the system using security properties and simple matching scores.</a:t>
                </a:r>
              </a:p>
              <a:p>
                <a:r>
                  <a:rPr lang="en-IN" dirty="0"/>
                  <a:t>Security properties:</a:t>
                </a:r>
              </a:p>
              <a:p>
                <a:pPr lvl="1"/>
                <a:r>
                  <a:rPr lang="en-IN" dirty="0"/>
                  <a:t>Irreversibility: Protected templates do not reveal original embeddings.</a:t>
                </a:r>
              </a:p>
              <a:p>
                <a:pPr lvl="1"/>
                <a:r>
                  <a:rPr lang="en-IN" dirty="0"/>
                  <a:t>Revocability: New templates can be issued by changing key/seed.</a:t>
                </a:r>
              </a:p>
              <a:p>
                <a:pPr lvl="1"/>
                <a:r>
                  <a:rPr lang="en-IN" dirty="0" err="1"/>
                  <a:t>Unlinkability</a:t>
                </a:r>
                <a:r>
                  <a:rPr lang="en-IN" dirty="0"/>
                  <a:t>: Templates of same user in different systems should not be correlated.</a:t>
                </a:r>
              </a:p>
              <a:p>
                <a:r>
                  <a:rPr lang="en-IN" dirty="0"/>
                  <a:t>Example matching measure (Hamming similarity):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Hamming</m:t>
                    </m:r>
                    <m:r>
                      <m:rPr>
                        <m:lit/>
                        <m:nor/>
                      </m:rPr>
                      <a:rPr lang="en-IN" b="0" i="1"/>
                      <m:t>_</m:t>
                    </m:r>
                    <m:r>
                      <m:rPr>
                        <m:nor/>
                      </m:rPr>
                      <a:rPr lang="en-IN" b="0" i="1"/>
                      <m:t>sim</m:t>
                    </m:r>
                    <m:r>
                      <a:rPr lang="en-IN"/>
                      <m:t>=</m:t>
                    </m:r>
                    <m:r>
                      <a:rPr lang="en-IN"/>
                      <m:t>1</m:t>
                    </m:r>
                    <m:r>
                      <a:rPr lang="en-IN"/>
                      <m:t>−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/>
                          <m:t>number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of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differing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bits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1"/>
                          <m:t>total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bits</m:t>
                        </m:r>
                      </m:den>
                    </m:f>
                  </m:oMath>
                </a14:m>
                <a:br>
                  <a:rPr lang="ar-AE" dirty="0"/>
                </a:b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A9477E-9815-7088-FD0E-4448FE1A24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702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3D9AD7-8316-20DD-35D7-168228018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514305"/>
              </p:ext>
            </p:extLst>
          </p:nvPr>
        </p:nvGraphicFramePr>
        <p:xfrm>
          <a:off x="1855019" y="502920"/>
          <a:ext cx="8085396" cy="2926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7566">
                  <a:extLst>
                    <a:ext uri="{9D8B030D-6E8A-4147-A177-3AD203B41FA5}">
                      <a16:colId xmlns:a16="http://schemas.microsoft.com/office/drawing/2014/main" val="280342656"/>
                    </a:ext>
                  </a:extLst>
                </a:gridCol>
                <a:gridCol w="1347566">
                  <a:extLst>
                    <a:ext uri="{9D8B030D-6E8A-4147-A177-3AD203B41FA5}">
                      <a16:colId xmlns:a16="http://schemas.microsoft.com/office/drawing/2014/main" val="1005242864"/>
                    </a:ext>
                  </a:extLst>
                </a:gridCol>
                <a:gridCol w="1347566">
                  <a:extLst>
                    <a:ext uri="{9D8B030D-6E8A-4147-A177-3AD203B41FA5}">
                      <a16:colId xmlns:a16="http://schemas.microsoft.com/office/drawing/2014/main" val="3501040802"/>
                    </a:ext>
                  </a:extLst>
                </a:gridCol>
                <a:gridCol w="1347566">
                  <a:extLst>
                    <a:ext uri="{9D8B030D-6E8A-4147-A177-3AD203B41FA5}">
                      <a16:colId xmlns:a16="http://schemas.microsoft.com/office/drawing/2014/main" val="2026655991"/>
                    </a:ext>
                  </a:extLst>
                </a:gridCol>
                <a:gridCol w="1347566">
                  <a:extLst>
                    <a:ext uri="{9D8B030D-6E8A-4147-A177-3AD203B41FA5}">
                      <a16:colId xmlns:a16="http://schemas.microsoft.com/office/drawing/2014/main" val="101450508"/>
                    </a:ext>
                  </a:extLst>
                </a:gridCol>
                <a:gridCol w="1347566">
                  <a:extLst>
                    <a:ext uri="{9D8B030D-6E8A-4147-A177-3AD203B41FA5}">
                      <a16:colId xmlns:a16="http://schemas.microsoft.com/office/drawing/2014/main" val="681809505"/>
                    </a:ext>
                  </a:extLst>
                </a:gridCol>
              </a:tblGrid>
              <a:tr h="325455">
                <a:tc>
                  <a:txBody>
                    <a:bodyPr/>
                    <a:lstStyle/>
                    <a:p>
                      <a:r>
                        <a:rPr lang="en-IN" dirty="0"/>
                        <a:t>      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</a:t>
                      </a:r>
                      <a:r>
                        <a:rPr lang="en-IN" dirty="0" err="1"/>
                        <a:t>Acc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FAR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FRR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724746"/>
                  </a:ext>
                </a:extLst>
              </a:tr>
              <a:tr h="325455">
                <a:tc>
                  <a:txBody>
                    <a:bodyPr/>
                    <a:lstStyle/>
                    <a:p>
                      <a:r>
                        <a:rPr lang="en-IN" dirty="0"/>
                        <a:t>          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MLP-HASH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93.53%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0.9072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4.72%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6.57%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458109"/>
                  </a:ext>
                </a:extLst>
              </a:tr>
              <a:tr h="325455">
                <a:tc>
                  <a:txBody>
                    <a:bodyPr/>
                    <a:lstStyle/>
                    <a:p>
                      <a:r>
                        <a:rPr lang="en-IN" dirty="0"/>
                        <a:t>           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BIO-HASH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93.02%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0.9029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5.45%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7.12%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909282"/>
                  </a:ext>
                </a:extLst>
              </a:tr>
              <a:tr h="325455">
                <a:tc>
                  <a:txBody>
                    <a:bodyPr/>
                    <a:lstStyle/>
                    <a:p>
                      <a:r>
                        <a:rPr lang="en-IN" dirty="0"/>
                        <a:t>           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RP-PCA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92.42%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0.8977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5.31%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7.99%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41077"/>
                  </a:ext>
                </a:extLst>
              </a:tr>
              <a:tr h="325455">
                <a:tc>
                  <a:txBody>
                    <a:bodyPr/>
                    <a:lstStyle/>
                    <a:p>
                      <a:r>
                        <a:rPr lang="en-IN" dirty="0"/>
                        <a:t>           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BLOOM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91.15%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0.8828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7.02%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8.51%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782328"/>
                  </a:ext>
                </a:extLst>
              </a:tr>
              <a:tr h="325455">
                <a:tc>
                  <a:txBody>
                    <a:bodyPr/>
                    <a:lstStyle/>
                    <a:p>
                      <a:r>
                        <a:rPr lang="en-IN" dirty="0"/>
                        <a:t>           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IOM_URP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91.09%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0.8798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7.36%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9.03%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27402"/>
                  </a:ext>
                </a:extLst>
              </a:tr>
              <a:tr h="325455">
                <a:tc>
                  <a:txBody>
                    <a:bodyPr/>
                    <a:lstStyle/>
                    <a:p>
                      <a:r>
                        <a:rPr lang="en-IN" dirty="0"/>
                        <a:t>           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IOM_GRP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90.71%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0.8884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8.70%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8.50%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207058"/>
                  </a:ext>
                </a:extLst>
              </a:tr>
              <a:tr h="32545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85896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28ED370-ACE9-8F57-D78A-CCCCC9C70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249" y="3543708"/>
            <a:ext cx="3967325" cy="30856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37D3A4-B246-312F-83A6-F43C8B7B1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656" y="3710449"/>
            <a:ext cx="5504426" cy="275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61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2C47-2CF9-F0EB-0AD7-4D14426C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8335-C3D0-F926-EB4B-41A68E750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designed and implemented a multimodal cancelable biometric system for face and iris.</a:t>
            </a:r>
          </a:p>
          <a:p>
            <a:r>
              <a:rPr lang="en-US" dirty="0"/>
              <a:t>Raw biometric features are never stored; only protected templates are saved.</a:t>
            </a:r>
          </a:p>
          <a:p>
            <a:r>
              <a:rPr lang="en-US" dirty="0"/>
              <a:t>Using six different schemes, we showed that templates can be made non‑invertible, revocable and </a:t>
            </a:r>
            <a:r>
              <a:rPr lang="en-US" dirty="0" err="1"/>
              <a:t>unlinkable</a:t>
            </a:r>
            <a:r>
              <a:rPr lang="en-US" dirty="0"/>
              <a:t> while still allowing practical authentication.</a:t>
            </a:r>
          </a:p>
          <a:p>
            <a:r>
              <a:rPr lang="en-US" dirty="0"/>
              <a:t>The framework is modular and extensible: new models, datasets or protection methods can be plugged in easily.</a:t>
            </a:r>
          </a:p>
          <a:p>
            <a:r>
              <a:rPr lang="en-US" dirty="0"/>
              <a:t>Future work: multimodal fusion experiments, larger datasets, and integration with real deployment scenarios.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02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F1A21-8BB1-D7EB-5A38-BF26696D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0CF1-1DF7-C8D4-EED3-E9EF99A5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MLP‑Hash paper (face templates):</a:t>
            </a:r>
            <a:br>
              <a:rPr lang="en-IN" dirty="0"/>
            </a:br>
            <a:r>
              <a:rPr lang="en-IN" dirty="0" err="1"/>
              <a:t>Otroshi</a:t>
            </a:r>
            <a:r>
              <a:rPr lang="en-IN" dirty="0"/>
              <a:t> </a:t>
            </a:r>
            <a:r>
              <a:rPr lang="en-IN" dirty="0" err="1"/>
              <a:t>Shahreza</a:t>
            </a:r>
            <a:r>
              <a:rPr lang="en-IN" dirty="0"/>
              <a:t>, H., </a:t>
            </a:r>
            <a:r>
              <a:rPr lang="en-IN" dirty="0" err="1"/>
              <a:t>Krivokuca</a:t>
            </a:r>
            <a:r>
              <a:rPr lang="en-IN" dirty="0"/>
              <a:t> Hahn, V., &amp; Marcel, S. “MLP‑Hash: Protecting Face Templates via Hashing of Randomized Multi‑Layer Perceptron.” </a:t>
            </a:r>
            <a:r>
              <a:rPr lang="en-IN" i="1" dirty="0"/>
              <a:t>Proceedings of EUSIPCO 2023</a:t>
            </a:r>
            <a:r>
              <a:rPr lang="en-IN" dirty="0"/>
              <a:t>, IEEE, 2023.</a:t>
            </a:r>
          </a:p>
          <a:p>
            <a:r>
              <a:rPr lang="en-IN" dirty="0"/>
              <a:t>Iris </a:t>
            </a:r>
            <a:r>
              <a:rPr lang="en-IN" dirty="0" err="1"/>
              <a:t>RHoG</a:t>
            </a:r>
            <a:r>
              <a:rPr lang="en-IN" dirty="0"/>
              <a:t> paper (alignment‑robust iris):</a:t>
            </a:r>
            <a:br>
              <a:rPr lang="en-IN" dirty="0"/>
            </a:br>
            <a:r>
              <a:rPr lang="en-IN" dirty="0"/>
              <a:t>Lee, M. J., Jin, Z., Liang, S.‑N., &amp; </a:t>
            </a:r>
            <a:r>
              <a:rPr lang="en-IN" dirty="0" err="1"/>
              <a:t>Tistarelli</a:t>
            </a:r>
            <a:r>
              <a:rPr lang="en-IN" dirty="0"/>
              <a:t>, M. “Alignment‑Robust </a:t>
            </a:r>
            <a:r>
              <a:rPr lang="en-IN" dirty="0" err="1"/>
              <a:t>Cancelable</a:t>
            </a:r>
            <a:r>
              <a:rPr lang="en-IN" dirty="0"/>
              <a:t> Biometric Scheme for Iris Verification.” </a:t>
            </a:r>
            <a:r>
              <a:rPr lang="en-IN" i="1" dirty="0"/>
              <a:t>IEEE Transactions on Information Forensics and Security</a:t>
            </a:r>
            <a:r>
              <a:rPr lang="en-IN" dirty="0"/>
              <a:t>, 17, 3449–3463, 2022.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5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00A2656A-D692-FC21-E535-6C0EEB3EA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53C05-3AF6-C05D-16FC-39CDA8550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1604" y="3680364"/>
            <a:ext cx="5801917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9600" dirty="0"/>
              <a:t>Thank You </a:t>
            </a: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CA089D62-9FF9-4911-91E5-9A465A14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83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C92AF8F1CD7C47B9C2A36B40D09986" ma:contentTypeVersion="10" ma:contentTypeDescription="Create a new document." ma:contentTypeScope="" ma:versionID="f4ee26570e5cc704988e313b5d828143">
  <xsd:schema xmlns:xsd="http://www.w3.org/2001/XMLSchema" xmlns:xs="http://www.w3.org/2001/XMLSchema" xmlns:p="http://schemas.microsoft.com/office/2006/metadata/properties" xmlns:ns3="3f14e41f-a1a3-41b5-a264-64ee3455700f" targetNamespace="http://schemas.microsoft.com/office/2006/metadata/properties" ma:root="true" ma:fieldsID="ec37886560939b950f94b793c30ba3ca" ns3:_="">
    <xsd:import namespace="3f14e41f-a1a3-41b5-a264-64ee3455700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4e41f-a1a3-41b5-a264-64ee345570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14e41f-a1a3-41b5-a264-64ee3455700f" xsi:nil="true"/>
  </documentManagement>
</p:properties>
</file>

<file path=customXml/itemProps1.xml><?xml version="1.0" encoding="utf-8"?>
<ds:datastoreItem xmlns:ds="http://schemas.openxmlformats.org/officeDocument/2006/customXml" ds:itemID="{25BA4922-9021-4EA4-90C1-9F0B7E4D7C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14e41f-a1a3-41b5-a264-64ee345570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97B6BF-25EF-4F04-8643-BBF0EC3339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340B93-A04D-4846-93CA-83C34558B68F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3f14e41f-a1a3-41b5-a264-64ee3455700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731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BTP PRESENTATION Multimodal Biometric Template Protection</vt:lpstr>
      <vt:lpstr>Contents</vt:lpstr>
      <vt:lpstr>Problem Statement / Motivation</vt:lpstr>
      <vt:lpstr>Proposed Methodology</vt:lpstr>
      <vt:lpstr>Proposed Method’s Complete Pipeline :</vt:lpstr>
      <vt:lpstr>Experimental Set-up  </vt:lpstr>
      <vt:lpstr>Results and Discussion</vt:lpstr>
      <vt:lpstr>PowerPoint Presentation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Amber Hayat</dc:creator>
  <cp:lastModifiedBy>Divakar Kushwaha</cp:lastModifiedBy>
  <cp:revision>7</cp:revision>
  <dcterms:created xsi:type="dcterms:W3CDTF">2025-12-05T06:43:20Z</dcterms:created>
  <dcterms:modified xsi:type="dcterms:W3CDTF">2025-12-05T13:13:00Z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0x01010031C92AF8F1CD7C47B9C2A36B40D09986</vt:lpwstr>
  </property>
</Properties>
</file>